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78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E3D52"/>
          </a:solidFill>
          <a:ln w="12700">
            <a:solidFill>
              <a:srgbClr val="0E3D5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766560" y="-274320"/>
            <a:ext cx="2926080" cy="2926080"/>
          </a:xfrm>
          <a:prstGeom prst="ellipse">
            <a:avLst/>
          </a:prstGeom>
          <a:solidFill>
            <a:srgbClr val="0C3347"/>
          </a:solidFill>
          <a:ln w="12700">
            <a:solidFill>
              <a:srgbClr val="0C334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Bibliometric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Research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Viktor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Korotkov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Arystan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Kamalov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Shitao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Zhao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emlyon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centrale| 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046720" cy="822960"/>
          </a:xfrm>
          <a:prstGeom prst="rect">
            <a:avLst/>
          </a:prstGeom>
          <a:solidFill>
            <a:srgbClr val="10203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16,867 papers published in 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+ 5 min Q&amp;A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850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Big Data 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983480" y="8778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04104" y="8503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SPARQL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04104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queries from DBLP endpoint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55064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274320" y="1655064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1728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1700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of Research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655064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800600" y="1655064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983480" y="1728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04104" y="1700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&amp; Scientific Community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05456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274320" y="2505456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" y="25511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&amp; Universities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505456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4800600" y="2505456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983480" y="25786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04104" y="25511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 and Impact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55848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274320" y="3355848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457200" y="3429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Science &amp; Trends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355848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4800600" y="3355848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983480" y="3429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04104" y="3401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206240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457200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7824" y="4251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Trends &amp; Thematic Structure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" y="4663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bibliometric analysis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4206240"/>
            <a:ext cx="42062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4" name="Shape 42"/>
          <p:cNvSpPr/>
          <p:nvPr/>
        </p:nvSpPr>
        <p:spPr>
          <a:xfrm>
            <a:off x="4800600" y="4206240"/>
            <a:ext cx="64008" cy="7589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4983480" y="42793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04104" y="4251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Big Data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papers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venues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several decades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3200400" y="841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papers published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each year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peak 16,867 in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822960"/>
            <a:ext cx="2651760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6080760" y="841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formats, topics,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venues, and authors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"Rather than adding to the subjective noise around the 'AI boom,' this project uses real bibliometric data </a:t>
            </a:r>
            <a:r>
              <a:rPr lang="en-US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objectively trace how the field has actually evolved</a:t>
            </a:r>
            <a:r>
              <a:rPr lang="en-US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mapping shifts in research hotspots and the respective roles of academia and industry."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Sources &amp; SPARQL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77640" cy="594360"/>
          </a:xfrm>
          <a:prstGeom prst="rect">
            <a:avLst/>
          </a:prstGeom>
          <a:solidFill>
            <a:srgbClr val="0E4D6C"/>
          </a:solidFill>
          <a:ln w="12700">
            <a:solidFill>
              <a:srgbClr val="0E4D6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DBLP — Primary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SPARQL queries executed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993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483,361 paper–author pairs (Query 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5237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175,346 paper–affiliation pairs (Query 4)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30540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NeurIPS, ICML, ICLR, CVPR, ICCV, ECCV, ACL, EMNLP, NAACL, AAAI, IJCAI, KR, ISWC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2272" y="777240"/>
            <a:ext cx="4407408" cy="4160520"/>
          </a:xfrm>
          <a:prstGeom prst="rect">
            <a:avLst/>
          </a:prstGeom>
          <a:solidFill>
            <a:srgbClr val="0F1923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617720" y="850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Summary (from report)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170432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26280" y="11887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66360" y="1188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 per year (7 venues)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45552" y="118872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(52, 2)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80560" y="1435608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526280" y="14538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66360" y="14538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 per topic (13 venues, 4 buckets)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45552" y="14538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(13, 2)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1700784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526280" y="17190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66360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× year time series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45552" y="17190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(64, 3)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1965960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526280" y="19842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19842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Paper–affiliation pairs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45552" y="19842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(175K, 3)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80560" y="2231136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4526280" y="224942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66360" y="22494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Paper–author pairs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45552" y="22494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(483K, 3)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80560" y="2496312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526280" y="25146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25146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Paper–affiliation–venue triples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45552" y="25146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(175K, 4)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80560" y="2761488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4526280" y="27797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Q7–8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66360" y="27797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Journals &amp; conferences ranked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45552" y="277977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80560" y="3026664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4526280" y="30449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30449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 impact by subtopic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45552" y="30449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(9, 3)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480560" y="3291840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6"/>
          <p:cNvSpPr/>
          <p:nvPr/>
        </p:nvSpPr>
        <p:spPr>
          <a:xfrm>
            <a:off x="4526280" y="33101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66360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Subtopic emergence timeline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45552" y="331012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480560" y="3557016"/>
            <a:ext cx="4279392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50"/>
          <p:cNvSpPr/>
          <p:nvPr/>
        </p:nvSpPr>
        <p:spPr>
          <a:xfrm>
            <a:off x="4526280" y="357530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66360" y="35753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Fundamental vs Applied split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845552" y="35753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480560" y="3822192"/>
            <a:ext cx="4279392" cy="256032"/>
          </a:xfrm>
          <a:prstGeom prst="rect">
            <a:avLst/>
          </a:prstGeom>
          <a:solidFill>
            <a:srgbClr val="131F2D"/>
          </a:solidFill>
          <a:ln w="12700">
            <a:solidFill>
              <a:srgbClr val="131F2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54"/>
          <p:cNvSpPr/>
          <p:nvPr/>
        </p:nvSpPr>
        <p:spPr>
          <a:xfrm>
            <a:off x="4526280" y="38404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Q12–13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66360" y="38404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coverage audits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845552" y="384048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526280" y="4663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query list: github.com/stacyshki/Big-Data-and-AI-Publications-Analysis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Publication Trends (1970–2025)</a:t>
            </a:r>
            <a:endParaRPr lang="en-US" sz="2200" dirty="0"/>
          </a:p>
        </p:txBody>
      </p:sp>
      <p:pic>
        <p:nvPicPr>
          <p:cNvPr id="4" name="Image 0" descr="/home/claude/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474720"/>
            <a:ext cx="2651760" cy="1371600"/>
          </a:xfrm>
          <a:prstGeom prst="rect">
            <a:avLst/>
          </a:prstGeom>
          <a:solidFill>
            <a:srgbClr val="E2F4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6" name="Text 3"/>
          <p:cNvSpPr/>
          <p:nvPr/>
        </p:nvSpPr>
        <p:spPr>
          <a:xfrm>
            <a:off x="36576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1970–2000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931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exploration</a:t>
            </a:r>
          </a:p>
        </p:txBody>
      </p:sp>
      <p:sp>
        <p:nvSpPr>
          <p:cNvPr id="8" name="Shape 5"/>
          <p:cNvSpPr/>
          <p:nvPr/>
        </p:nvSpPr>
        <p:spPr>
          <a:xfrm>
            <a:off x="3108960" y="3474720"/>
            <a:ext cx="2651760" cy="1371600"/>
          </a:xfrm>
          <a:prstGeom prst="rect">
            <a:avLst/>
          </a:prstGeom>
          <a:solidFill>
            <a:srgbClr val="BAE6FD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20040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3931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3474720"/>
            <a:ext cx="2651760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6035040" y="3547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2012–2024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39319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phase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era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Thematic Structure — Topic Distribution &amp; Evolution</a:t>
            </a:r>
            <a:endParaRPr lang="en-US" sz="2200" dirty="0"/>
          </a:p>
        </p:txBody>
      </p:sp>
      <p:pic>
        <p:nvPicPr>
          <p:cNvPr id="4" name="Image 0" descr="/home/claude/im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383280"/>
            <a:ext cx="2011680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365760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9184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  |  55,359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50592" y="3383280"/>
            <a:ext cx="2011680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2542032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05456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  |  54,492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6864" y="3383280"/>
            <a:ext cx="2011680" cy="1463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718304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81728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21.1%  |  41,591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03136" y="3383280"/>
            <a:ext cx="201168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6894576" y="3438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GenAI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3822192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  |  41,141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Geography of Research — Global Output</a:t>
            </a:r>
            <a:endParaRPr lang="en-US" sz="2200" dirty="0"/>
          </a:p>
        </p:txBody>
      </p:sp>
      <p:pic>
        <p:nvPicPr>
          <p:cNvPr id="4" name="Image 0" descr="/home/claude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931920"/>
            <a:ext cx="85953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274320" y="3931920"/>
            <a:ext cx="64008" cy="9692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502920" y="398678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leads historically (36,232 publications), China second (25,219). UK: 6,413, Germany: 5,318. Post-2023 China overtook the US in annual output. In 2000 the US held ~50% of top-tier research share; by 2025 that contracted to ~20%.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Geography — Growth Trends &amp; Shifting Balance</a:t>
            </a:r>
            <a:endParaRPr lang="en-US" sz="2200" dirty="0"/>
          </a:p>
        </p:txBody>
      </p:sp>
      <p:pic>
        <p:nvPicPr>
          <p:cNvPr id="4" name="Image 0" descr="/home/claude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3291840"/>
          </a:xfrm>
          <a:prstGeom prst="rect">
            <a:avLst/>
          </a:prstGeom>
        </p:spPr>
      </p:pic>
      <p:pic>
        <p:nvPicPr>
          <p:cNvPr id="5" name="Image 1" descr="/home/claude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77240"/>
            <a:ext cx="3017520" cy="1920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64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2018–2023 CAGR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806440" y="3063240"/>
            <a:ext cx="3017520" cy="347472"/>
          </a:xfrm>
          <a:prstGeom prst="rect">
            <a:avLst/>
          </a:prstGeom>
          <a:solidFill>
            <a:srgbClr val="0E749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5897880" y="3063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 40.96%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06440" y="3456432"/>
            <a:ext cx="3017520" cy="347472"/>
          </a:xfrm>
          <a:prstGeom prst="rect">
            <a:avLst/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5897880" y="3456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 22.55%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06440" y="3849624"/>
            <a:ext cx="3017520" cy="347472"/>
          </a:xfrm>
          <a:prstGeom prst="rect">
            <a:avLst/>
          </a:prstGeom>
          <a:solidFill>
            <a:srgbClr val="F0F6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5897880" y="38496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 20.56%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4206240"/>
            <a:ext cx="8595360" cy="804672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274320" y="4206240"/>
            <a:ext cx="82296" cy="8046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Asia's rise is structural. The global balance of AI research power is shifting eastward — driven by national investments in China, South Korea, and Singapore. Traditional Western hubs (UK, Germany) maintain stable but compressed shares.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Authors &amp; Scientific Community — Productivity</a:t>
            </a:r>
            <a:endParaRPr lang="en-US" sz="2200" dirty="0"/>
          </a:p>
        </p:txBody>
      </p:sp>
      <p:pic>
        <p:nvPicPr>
          <p:cNvPr id="4" name="Image 0" descr="/home/claude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1206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04672"/>
            <a:ext cx="31546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5760720" y="850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138,398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2344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authors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5760720" y="18745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Lotka's Law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22585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heavy-tailed distribution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852928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5760720" y="2898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author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0" y="3282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publications (Dacheng Tao)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858768"/>
            <a:ext cx="8595360" cy="1344168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274320" y="3858768"/>
            <a:ext cx="82296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502920" y="396849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researchers contribute only 1–2 publications. A tiny fraction of 'super-productive' researchers drives disproportionate output. This power-law distribution (Lotka's Law) is a universal pattern in scientific fields.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Team Sizes &amp; International Collaboration</a:t>
            </a:r>
            <a:endParaRPr lang="en-US" sz="2200" dirty="0"/>
          </a:p>
        </p:txBody>
      </p:sp>
      <p:pic>
        <p:nvPicPr>
          <p:cNvPr id="4" name="Image 0" descr="/home/claude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166360" cy="2926080"/>
          </a:xfrm>
          <a:prstGeom prst="rect">
            <a:avLst/>
          </a:prstGeom>
        </p:spPr>
      </p:pic>
      <p:pic>
        <p:nvPicPr>
          <p:cNvPr id="5" name="Image 1" descr="/home/claude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40"/>
            <a:ext cx="8595360" cy="13238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96128" y="777240"/>
            <a:ext cx="3246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5596128" y="777240"/>
            <a:ext cx="64008" cy="2926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5760720" y="850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0" y="12344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authors per paper: ~2.4 (2000) → 5.5+ (2025)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15000" y="18196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transitioning to large-scale team science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15000" y="24048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 share peaked ~24% in 2015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15000" y="29900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to ~16.5% by 2025 — domestic output accelerating faster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Institutions — Leaders &amp; Temporal Dynamics</a:t>
            </a:r>
            <a:endParaRPr lang="en-US" sz="2200" dirty="0"/>
          </a:p>
        </p:txBody>
      </p:sp>
      <p:pic>
        <p:nvPicPr>
          <p:cNvPr id="4" name="Image 0" descr="/home/claude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474720" cy="2286000"/>
          </a:xfrm>
          <a:prstGeom prst="rect">
            <a:avLst/>
          </a:prstGeom>
        </p:spPr>
      </p:pic>
      <p:pic>
        <p:nvPicPr>
          <p:cNvPr id="5" name="Image 1" descr="/home/claude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777240"/>
            <a:ext cx="4937760" cy="2286000"/>
          </a:xfrm>
          <a:prstGeom prst="rect">
            <a:avLst/>
          </a:prstGeom>
        </p:spPr>
      </p:pic>
      <p:pic>
        <p:nvPicPr>
          <p:cNvPr id="6" name="Image 2" descr="/home/claude/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127248"/>
            <a:ext cx="5394960" cy="18288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897880" y="3127248"/>
            <a:ext cx="29443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3"/>
          <p:cNvSpPr/>
          <p:nvPr/>
        </p:nvSpPr>
        <p:spPr>
          <a:xfrm>
            <a:off x="5897880" y="3127248"/>
            <a:ext cx="64008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4"/>
          <p:cNvSpPr/>
          <p:nvPr/>
        </p:nvSpPr>
        <p:spPr>
          <a:xfrm>
            <a:off x="6053328" y="3200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053328" y="36393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leads historically (950 pubs)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6053328" y="419252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exploded post-2010 — now #1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053328" y="4466347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corporate lab (Microsoft Research) in top 10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053328" y="394205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dominates volume over industry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Institutional Specialization</a:t>
            </a:r>
            <a:endParaRPr lang="en-US" sz="2200" dirty="0"/>
          </a:p>
        </p:txBody>
      </p:sp>
      <p:pic>
        <p:nvPicPr>
          <p:cNvPr id="4" name="Image 0" descr="/home/claude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206240"/>
            <a:ext cx="8595360" cy="804672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274320" y="4206240"/>
            <a:ext cx="82296" cy="8046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Zurich and UC Berkeley are highly specialized — directing most output toward Computer Vision (CVPR) and Neural Information Processing (NeurIPS). CMU and NTU maintain broader, more balanced portfolios covering General AI (AAAI, IJCAI) alongside specialized topics.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Research Quality &amp; Impact — Venues and Citations</a:t>
            </a:r>
            <a:endParaRPr lang="en-US" sz="2200" dirty="0"/>
          </a:p>
        </p:txBody>
      </p:sp>
      <p:pic>
        <p:nvPicPr>
          <p:cNvPr id="4" name="Image 0" descr="/home/claude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474720" cy="2286000"/>
          </a:xfrm>
          <a:prstGeom prst="rect">
            <a:avLst/>
          </a:prstGeom>
        </p:spPr>
      </p:pic>
      <p:pic>
        <p:nvPicPr>
          <p:cNvPr id="5" name="Image 1" descr="/home/claude/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777240"/>
            <a:ext cx="502920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200400"/>
            <a:ext cx="8595360" cy="1682496"/>
          </a:xfrm>
          <a:prstGeom prst="rect">
            <a:avLst/>
          </a:prstGeom>
          <a:solidFill>
            <a:srgbClr val="E0F7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274320" y="3200400"/>
            <a:ext cx="82296" cy="16824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502920" y="3310128"/>
            <a:ext cx="8229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leads journals with 2× volume advantage over next competitor. IJCNN dominates conferences similarly. Top-10 journals account for 23.8% of citations; single top venue contributes 28.2% of that share. Computer Vision has highest citations-per-paper (23.4%), followed by Image &amp; Media Synthesis (22.4%) and Classical NLP (21.8%). AI Ethics &amp; Interpretability ranks lowest at 16.1%.</a:t>
            </a:r>
          </a:p>
          <a:p>
            <a:pPr marL="0" indent="0">
              <a:buNone/>
            </a:pPr>
            <a:endParaRPr lang="en-US" sz="105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*Ranking of journals and conferences is according to the amount of citations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Evolution of Science — Emergence &amp; Applied vs Fundamental</a:t>
            </a:r>
            <a:endParaRPr lang="en-US" sz="2200" dirty="0"/>
          </a:p>
        </p:txBody>
      </p:sp>
      <p:pic>
        <p:nvPicPr>
          <p:cNvPr id="4" name="Image 0" descr="/home/claude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77640" cy="2011680"/>
          </a:xfrm>
          <a:prstGeom prst="rect">
            <a:avLst/>
          </a:prstGeom>
        </p:spPr>
      </p:pic>
      <p:pic>
        <p:nvPicPr>
          <p:cNvPr id="5" name="Image 1" descr="/home/claude/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777240"/>
            <a:ext cx="4389120" cy="2011680"/>
          </a:xfrm>
          <a:prstGeom prst="rect">
            <a:avLst/>
          </a:prstGeom>
        </p:spPr>
      </p:pic>
      <p:pic>
        <p:nvPicPr>
          <p:cNvPr id="6" name="Image 2" descr="/home/claude/image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834640"/>
            <a:ext cx="85953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Data Limitations</a:t>
            </a:r>
            <a:endParaRPr lang="en-US" sz="2200" dirty="0"/>
          </a:p>
        </p:txBody>
      </p:sp>
      <p:pic>
        <p:nvPicPr>
          <p:cNvPr id="4" name="Image 0" descr="/home/claude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840480" cy="2697480"/>
          </a:xfrm>
          <a:prstGeom prst="rect">
            <a:avLst/>
          </a:prstGeom>
        </p:spPr>
      </p:pic>
      <p:pic>
        <p:nvPicPr>
          <p:cNvPr id="5" name="Image 1" descr="/home/claude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777240"/>
            <a:ext cx="45720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97680" y="2724912"/>
            <a:ext cx="457200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4297680" y="2724912"/>
            <a:ext cx="64008" cy="22128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4480560" y="2798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62272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tracking: majority of papers have NO citation records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462272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coverage incomplete — country inferred via regex fallback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462272" y="38999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LLM/Transformer query also captures electrical-engineering papers (birth year skewed)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462272" y="42291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and category labeling is heuristic, not authoritative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462272" y="45308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split into 3 slices due to endpoint timeouts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across all 8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54139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02920" y="1590715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90715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at scale: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1590715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163K+ papers, multi-source, growing at ~16K/year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94219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" y="2230795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0795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new frontier: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2230795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GenAI overtook all fields in 2025; ML peaked at 7,106 in 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299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02920" y="2870875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870875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overtook the US: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4640" y="2870875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Post-2023 China leads annual output; South Korea CAGR 40.96% (2018–2023)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74379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02920" y="3510955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10955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team science: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3510955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per paper: ~2.4 (2000) → 5.5+ (2025); intl share declining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459"/>
            <a:ext cx="8412480" cy="576072"/>
          </a:xfrm>
          <a:prstGeom prst="rect">
            <a:avLst/>
          </a:prstGeom>
          <a:solidFill>
            <a:srgbClr val="0D1E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502920" y="4151035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151035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dominates: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34640" y="4151035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CMU, NTU lead; only 1 corporate lab in top 10; Lotka's Law holds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26080" y="2926080"/>
            <a:ext cx="32918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292608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/stacyshki/Big-Data-and-AI-Publications-Analysis  |  </a:t>
            </a:r>
            <a:r>
              <a:rPr lang="en-US" sz="8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emlyon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8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</a:t>
            </a: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centrale2025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1072</Words>
  <Application>Microsoft Office PowerPoint</Application>
  <PresentationFormat>Экран (16:9)</PresentationFormat>
  <Paragraphs>182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Bibliometric Analysis of AI Research</dc:title>
  <dc:subject>PptxGenJS Presentation</dc:subject>
  <dc:creator>PptxGenJS</dc:creator>
  <cp:lastModifiedBy>asus</cp:lastModifiedBy>
  <cp:revision>6</cp:revision>
  <dcterms:created xsi:type="dcterms:W3CDTF">2026-03-15T20:59:06Z</dcterms:created>
  <dcterms:modified xsi:type="dcterms:W3CDTF">2026-03-16T15:09:09Z</dcterms:modified>
</cp:coreProperties>
</file>