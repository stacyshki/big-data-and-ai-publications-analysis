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478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0E3D52"/>
          </a:solidFill>
          <a:ln w="12700">
            <a:solidFill>
              <a:srgbClr val="0E3D5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6766560" y="-274320"/>
            <a:ext cx="2926080" cy="2926080"/>
          </a:xfrm>
          <a:prstGeom prst="ellipse">
            <a:avLst/>
          </a:prstGeom>
          <a:solidFill>
            <a:srgbClr val="0C3347"/>
          </a:solidFill>
          <a:ln w="12700">
            <a:solidFill>
              <a:srgbClr val="0C334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Bibliometric Analysis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AI Research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5786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 ·  SPARQL  ·  DBLP  ·  Publication Trends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2560320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emlyon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ecole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centrale|  2025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977640"/>
            <a:ext cx="8046720" cy="822960"/>
          </a:xfrm>
          <a:prstGeom prst="rect">
            <a:avLst/>
          </a:prstGeom>
          <a:solidFill>
            <a:srgbClr val="10203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16,867 papers published in 2024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 + 5 min Q&amp;A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20624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64008" cy="7589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457200" y="87782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7824" y="85039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Big Data Context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804672"/>
            <a:ext cx="420624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0" name="Shape 8"/>
          <p:cNvSpPr/>
          <p:nvPr/>
        </p:nvSpPr>
        <p:spPr>
          <a:xfrm>
            <a:off x="4800600" y="804672"/>
            <a:ext cx="64008" cy="7589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4983480" y="87782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04104" y="85039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— SPARQL Queries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04104" y="1261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queries from DBLP endpoint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655064"/>
            <a:ext cx="420624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5" name="Shape 13"/>
          <p:cNvSpPr/>
          <p:nvPr/>
        </p:nvSpPr>
        <p:spPr>
          <a:xfrm>
            <a:off x="274320" y="1655064"/>
            <a:ext cx="64008" cy="7589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457200" y="17282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7824" y="170078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of Research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1655064"/>
            <a:ext cx="420624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9" name="Shape 17"/>
          <p:cNvSpPr/>
          <p:nvPr/>
        </p:nvSpPr>
        <p:spPr>
          <a:xfrm>
            <a:off x="4800600" y="1655064"/>
            <a:ext cx="64008" cy="7589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8"/>
          <p:cNvSpPr/>
          <p:nvPr/>
        </p:nvSpPr>
        <p:spPr>
          <a:xfrm>
            <a:off x="4983480" y="17282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04104" y="170078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&amp; Scientific Community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505456"/>
            <a:ext cx="420624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3" name="Shape 21"/>
          <p:cNvSpPr/>
          <p:nvPr/>
        </p:nvSpPr>
        <p:spPr>
          <a:xfrm>
            <a:off x="274320" y="2505456"/>
            <a:ext cx="64008" cy="7589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22"/>
          <p:cNvSpPr/>
          <p:nvPr/>
        </p:nvSpPr>
        <p:spPr>
          <a:xfrm>
            <a:off x="457200" y="257860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77824" y="255117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&amp; Universities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2505456"/>
            <a:ext cx="420624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7" name="Shape 25"/>
          <p:cNvSpPr/>
          <p:nvPr/>
        </p:nvSpPr>
        <p:spPr>
          <a:xfrm>
            <a:off x="4800600" y="2505456"/>
            <a:ext cx="64008" cy="7589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Text 26"/>
          <p:cNvSpPr/>
          <p:nvPr/>
        </p:nvSpPr>
        <p:spPr>
          <a:xfrm>
            <a:off x="4983480" y="257860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04104" y="255117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Quality and Impact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355848"/>
            <a:ext cx="420624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1" name="Shape 29"/>
          <p:cNvSpPr/>
          <p:nvPr/>
        </p:nvSpPr>
        <p:spPr>
          <a:xfrm>
            <a:off x="274320" y="3355848"/>
            <a:ext cx="64008" cy="7589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Text 30"/>
          <p:cNvSpPr/>
          <p:nvPr/>
        </p:nvSpPr>
        <p:spPr>
          <a:xfrm>
            <a:off x="457200" y="34290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77824" y="340156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Science &amp; Trends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00600" y="3355848"/>
            <a:ext cx="420624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5" name="Shape 33"/>
          <p:cNvSpPr/>
          <p:nvPr/>
        </p:nvSpPr>
        <p:spPr>
          <a:xfrm>
            <a:off x="4800600" y="3355848"/>
            <a:ext cx="64008" cy="7589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Text 34"/>
          <p:cNvSpPr/>
          <p:nvPr/>
        </p:nvSpPr>
        <p:spPr>
          <a:xfrm>
            <a:off x="4983480" y="34290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04104" y="340156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Limitations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4206240"/>
            <a:ext cx="420624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9" name="Shape 37"/>
          <p:cNvSpPr/>
          <p:nvPr/>
        </p:nvSpPr>
        <p:spPr>
          <a:xfrm>
            <a:off x="274320" y="4206240"/>
            <a:ext cx="64008" cy="7589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0" name="Text 38"/>
          <p:cNvSpPr/>
          <p:nvPr/>
        </p:nvSpPr>
        <p:spPr>
          <a:xfrm>
            <a:off x="457200" y="427939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77824" y="42519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Trends &amp; Thematic Structure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77824" y="46634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bibliometric analysis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00600" y="4206240"/>
            <a:ext cx="420624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44" name="Shape 42"/>
          <p:cNvSpPr/>
          <p:nvPr/>
        </p:nvSpPr>
        <p:spPr>
          <a:xfrm>
            <a:off x="4800600" y="4206240"/>
            <a:ext cx="64008" cy="7589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5" name="Text 43"/>
          <p:cNvSpPr/>
          <p:nvPr/>
        </p:nvSpPr>
        <p:spPr>
          <a:xfrm>
            <a:off x="4983480" y="427939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404104" y="42519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Conclusions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Context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51760" cy="18288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320040" y="84124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papers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multiple venues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several decades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822960"/>
            <a:ext cx="2651760" cy="1828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3200400" y="84124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Veracity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337560" y="15087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papers published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each year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peak 16,867 in 2024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822960"/>
            <a:ext cx="2651760" cy="18288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6080760" y="84124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Variety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217920" y="15087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sources,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formats, topics,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venues, and authors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834640"/>
            <a:ext cx="850392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502920" y="29260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did this project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33756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"Rather than adding to the subjective noise around the 'AI boom,' this project uses real bibliometric data </a:t>
            </a:r>
            <a:r>
              <a:rPr lang="en-US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objectively trace how the field has actually evolved</a:t>
            </a:r>
            <a:r>
              <a:rPr lang="en-US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mapping shifts in research hotspots and the respective roles of academia and industry."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SPARQL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77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3977640" cy="594360"/>
          </a:xfrm>
          <a:prstGeom prst="rect">
            <a:avLst/>
          </a:prstGeom>
          <a:solidFill>
            <a:srgbClr val="0E4D6C"/>
          </a:solidFill>
          <a:ln w="12700">
            <a:solidFill>
              <a:srgbClr val="0E4D6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DBLP — Primary Source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146304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SPARQL queries executed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8912" y="199339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483,361 paper–author pairs (Query 5)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252374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175,346 paper–affiliation pairs (Query 4)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" y="305409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NeurIPS, ICML, ICLR, CVPR, ICCV, ECCV, ACL, EMNLP, NAACL, AAAI, IJCAI, KR, ISWC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62272" y="777240"/>
            <a:ext cx="4407408" cy="4160520"/>
          </a:xfrm>
          <a:prstGeom prst="rect">
            <a:avLst/>
          </a:prstGeom>
          <a:solidFill>
            <a:srgbClr val="0F1923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4617720" y="85039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Summary (from report)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80560" y="1170432"/>
            <a:ext cx="4279392" cy="256032"/>
          </a:xfrm>
          <a:prstGeom prst="rect">
            <a:avLst/>
          </a:prstGeom>
          <a:solidFill>
            <a:srgbClr val="131F2D"/>
          </a:solidFill>
          <a:ln w="12700">
            <a:solidFill>
              <a:srgbClr val="131F2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4526280" y="118872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166360" y="11887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Pubs per year (7 venues)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845552" y="1188720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(52, 2)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480560" y="1435608"/>
            <a:ext cx="4279392" cy="256032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8"/>
          <p:cNvSpPr/>
          <p:nvPr/>
        </p:nvSpPr>
        <p:spPr>
          <a:xfrm>
            <a:off x="4526280" y="145389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166360" y="145389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Pubs per topic (13 venues, 4 buckets)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845552" y="1453896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(13, 2)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480560" y="1700784"/>
            <a:ext cx="4279392" cy="256032"/>
          </a:xfrm>
          <a:prstGeom prst="rect">
            <a:avLst/>
          </a:prstGeom>
          <a:solidFill>
            <a:srgbClr val="131F2D"/>
          </a:solidFill>
          <a:ln w="12700">
            <a:solidFill>
              <a:srgbClr val="131F2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22"/>
          <p:cNvSpPr/>
          <p:nvPr/>
        </p:nvSpPr>
        <p:spPr>
          <a:xfrm>
            <a:off x="4526280" y="17190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166360" y="17190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 × year time series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845552" y="1719072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(64, 3)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480560" y="1965960"/>
            <a:ext cx="4279392" cy="256032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Text 26"/>
          <p:cNvSpPr/>
          <p:nvPr/>
        </p:nvSpPr>
        <p:spPr>
          <a:xfrm>
            <a:off x="4526280" y="198424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166360" y="198424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Paper–affiliation pairs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845552" y="198424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(175K, 3)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480560" y="2231136"/>
            <a:ext cx="4279392" cy="256032"/>
          </a:xfrm>
          <a:prstGeom prst="rect">
            <a:avLst/>
          </a:prstGeom>
          <a:solidFill>
            <a:srgbClr val="131F2D"/>
          </a:solidFill>
          <a:ln w="12700">
            <a:solidFill>
              <a:srgbClr val="131F2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Text 30"/>
          <p:cNvSpPr/>
          <p:nvPr/>
        </p:nvSpPr>
        <p:spPr>
          <a:xfrm>
            <a:off x="4526280" y="2249424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166360" y="224942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Paper–author pairs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845552" y="224942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(483K, 3)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480560" y="2496312"/>
            <a:ext cx="4279392" cy="256032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Text 34"/>
          <p:cNvSpPr/>
          <p:nvPr/>
        </p:nvSpPr>
        <p:spPr>
          <a:xfrm>
            <a:off x="4526280" y="251460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Q6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166360" y="251460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Paper–affiliation–venue triples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845552" y="2514600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(175K, 4)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480560" y="2761488"/>
            <a:ext cx="4279392" cy="256032"/>
          </a:xfrm>
          <a:prstGeom prst="rect">
            <a:avLst/>
          </a:prstGeom>
          <a:solidFill>
            <a:srgbClr val="131F2D"/>
          </a:solidFill>
          <a:ln w="12700">
            <a:solidFill>
              <a:srgbClr val="131F2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0" name="Text 38"/>
          <p:cNvSpPr/>
          <p:nvPr/>
        </p:nvSpPr>
        <p:spPr>
          <a:xfrm>
            <a:off x="4526280" y="277977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Q7–8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166360" y="277977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Journals &amp; conferences ranked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845552" y="2779776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480560" y="3026664"/>
            <a:ext cx="4279392" cy="256032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4" name="Text 42"/>
          <p:cNvSpPr/>
          <p:nvPr/>
        </p:nvSpPr>
        <p:spPr>
          <a:xfrm>
            <a:off x="4526280" y="304495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Q9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166360" y="304495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Citation impact by subtopic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845552" y="3044952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(9, 3)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480560" y="3291840"/>
            <a:ext cx="4279392" cy="256032"/>
          </a:xfrm>
          <a:prstGeom prst="rect">
            <a:avLst/>
          </a:prstGeom>
          <a:solidFill>
            <a:srgbClr val="131F2D"/>
          </a:solidFill>
          <a:ln w="12700">
            <a:solidFill>
              <a:srgbClr val="131F2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8" name="Text 46"/>
          <p:cNvSpPr/>
          <p:nvPr/>
        </p:nvSpPr>
        <p:spPr>
          <a:xfrm>
            <a:off x="4526280" y="33101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Q10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166360" y="331012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Subtopic emergence timeline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845552" y="331012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480560" y="3557016"/>
            <a:ext cx="4279392" cy="256032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2" name="Text 50"/>
          <p:cNvSpPr/>
          <p:nvPr/>
        </p:nvSpPr>
        <p:spPr>
          <a:xfrm>
            <a:off x="4526280" y="3575304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Q11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166360" y="357530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Fundamental vs Applied split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845552" y="35753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(2, 3)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480560" y="3822192"/>
            <a:ext cx="4279392" cy="256032"/>
          </a:xfrm>
          <a:prstGeom prst="rect">
            <a:avLst/>
          </a:prstGeom>
          <a:solidFill>
            <a:srgbClr val="131F2D"/>
          </a:solidFill>
          <a:ln w="12700">
            <a:solidFill>
              <a:srgbClr val="131F2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6" name="Text 54"/>
          <p:cNvSpPr/>
          <p:nvPr/>
        </p:nvSpPr>
        <p:spPr>
          <a:xfrm>
            <a:off x="4526280" y="384048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Q12–13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166360" y="384048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 coverage audits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845552" y="3840480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4526280" y="46634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query list: github.com/stacyshki/Big-Data-and-AI-Publications-Analysis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Trends (1970–2025)</a:t>
            </a:r>
            <a:endParaRPr lang="en-US" sz="2200" dirty="0"/>
          </a:p>
        </p:txBody>
      </p:sp>
      <p:pic>
        <p:nvPicPr>
          <p:cNvPr id="4" name="Image 0" descr="/home/claude/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49808"/>
            <a:ext cx="8595360" cy="2606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3474720"/>
            <a:ext cx="2651760" cy="1371600"/>
          </a:xfrm>
          <a:prstGeom prst="rect">
            <a:avLst/>
          </a:prstGeom>
          <a:solidFill>
            <a:srgbClr val="E2F4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3"/>
          <p:cNvSpPr/>
          <p:nvPr/>
        </p:nvSpPr>
        <p:spPr>
          <a:xfrm>
            <a:off x="365760" y="35478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1970–2000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393192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exploration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~100–900 pubs/yr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108960" y="3474720"/>
            <a:ext cx="2651760" cy="1371600"/>
          </a:xfrm>
          <a:prstGeom prst="rect">
            <a:avLst/>
          </a:prstGeom>
          <a:solidFill>
            <a:srgbClr val="BAE6FD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3200400" y="35478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2000–2012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0" y="393192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growth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~500–700/yr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43600" y="3474720"/>
            <a:ext cx="2651760" cy="13716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9"/>
          <p:cNvSpPr/>
          <p:nvPr/>
        </p:nvSpPr>
        <p:spPr>
          <a:xfrm>
            <a:off x="6035040" y="35478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2012–2024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35040" y="393192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phase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era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Thematic Structure — Topic Distribution &amp; Evolution</a:t>
            </a:r>
            <a:endParaRPr lang="en-US" sz="2200" dirty="0"/>
          </a:p>
        </p:txBody>
      </p:sp>
      <p:pic>
        <p:nvPicPr>
          <p:cNvPr id="4" name="Image 0" descr="/home/claude/img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49808"/>
            <a:ext cx="8595360" cy="2514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3383280"/>
            <a:ext cx="2011680" cy="1463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6" name="Text 3"/>
          <p:cNvSpPr/>
          <p:nvPr/>
        </p:nvSpPr>
        <p:spPr>
          <a:xfrm>
            <a:off x="365760" y="34381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29184" y="3822192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28.1%  |  55,359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450592" y="3383280"/>
            <a:ext cx="2011680" cy="1463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2542032" y="34381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505456" y="3822192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27.7%  |  54,492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26864" y="3383280"/>
            <a:ext cx="2011680" cy="14630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2" name="Text 9"/>
          <p:cNvSpPr/>
          <p:nvPr/>
        </p:nvSpPr>
        <p:spPr>
          <a:xfrm>
            <a:off x="4718304" y="34381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AI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681728" y="3822192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21.1%  |  41,591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803136" y="3383280"/>
            <a:ext cx="2011680" cy="1463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5" name="Text 12"/>
          <p:cNvSpPr/>
          <p:nvPr/>
        </p:nvSpPr>
        <p:spPr>
          <a:xfrm>
            <a:off x="6894576" y="34381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GenAI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858000" y="3822192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20.9%  |  41,141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of Research — Global Output</a:t>
            </a:r>
            <a:endParaRPr lang="en-US" sz="2200" dirty="0"/>
          </a:p>
        </p:txBody>
      </p:sp>
      <p:pic>
        <p:nvPicPr>
          <p:cNvPr id="4" name="Image 0" descr="/home/claude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8595360" cy="3063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3931920"/>
            <a:ext cx="859536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6" name="Shape 3"/>
          <p:cNvSpPr/>
          <p:nvPr/>
        </p:nvSpPr>
        <p:spPr>
          <a:xfrm>
            <a:off x="274320" y="3931920"/>
            <a:ext cx="64008" cy="9692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Text 4"/>
          <p:cNvSpPr/>
          <p:nvPr/>
        </p:nvSpPr>
        <p:spPr>
          <a:xfrm>
            <a:off x="502920" y="3986784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leads historically (36,232 publications), China second (25,219). UK: 6,413, Germany: 5,318. Post-2023 China overtook the US in annual output. In 2000 the US held ~50% of top-tier research share; by 2025 that contracted to ~20%.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Growth Trends &amp; Shifting Balance</a:t>
            </a:r>
            <a:endParaRPr lang="en-US" sz="2200" dirty="0"/>
          </a:p>
        </p:txBody>
      </p:sp>
      <p:pic>
        <p:nvPicPr>
          <p:cNvPr id="4" name="Image 0" descr="/home/claude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5303520" cy="3291840"/>
          </a:xfrm>
          <a:prstGeom prst="rect">
            <a:avLst/>
          </a:prstGeom>
        </p:spPr>
      </p:pic>
      <p:pic>
        <p:nvPicPr>
          <p:cNvPr id="5" name="Image 1" descr="/home/claude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777240"/>
            <a:ext cx="3017520" cy="19202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806440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2018–2023 CAGR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5806440" y="3063240"/>
            <a:ext cx="3017520" cy="347472"/>
          </a:xfrm>
          <a:prstGeom prst="rect">
            <a:avLst/>
          </a:prstGeom>
          <a:solidFill>
            <a:srgbClr val="0E7490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4"/>
          <p:cNvSpPr/>
          <p:nvPr/>
        </p:nvSpPr>
        <p:spPr>
          <a:xfrm>
            <a:off x="5897880" y="30632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Korea  40.96%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806440" y="3456432"/>
            <a:ext cx="3017520" cy="347472"/>
          </a:xfrm>
          <a:prstGeom prst="rect">
            <a:avLst/>
          </a:prstGeom>
          <a:solidFill>
            <a:srgbClr val="F0F6FA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6"/>
          <p:cNvSpPr/>
          <p:nvPr/>
        </p:nvSpPr>
        <p:spPr>
          <a:xfrm>
            <a:off x="5897880" y="34564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 22.55%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806440" y="3849624"/>
            <a:ext cx="3017520" cy="347472"/>
          </a:xfrm>
          <a:prstGeom prst="rect">
            <a:avLst/>
          </a:prstGeom>
          <a:solidFill>
            <a:srgbClr val="F0F6FA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8"/>
          <p:cNvSpPr/>
          <p:nvPr/>
        </p:nvSpPr>
        <p:spPr>
          <a:xfrm>
            <a:off x="5897880" y="384962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 20.56%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74320" y="4206240"/>
            <a:ext cx="8595360" cy="804672"/>
          </a:xfrm>
          <a:prstGeom prst="rect">
            <a:avLst/>
          </a:prstGeom>
          <a:solidFill>
            <a:srgbClr val="E0F7F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Shape 10"/>
          <p:cNvSpPr/>
          <p:nvPr/>
        </p:nvSpPr>
        <p:spPr>
          <a:xfrm>
            <a:off x="274320" y="4206240"/>
            <a:ext cx="82296" cy="8046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1"/>
          <p:cNvSpPr/>
          <p:nvPr/>
        </p:nvSpPr>
        <p:spPr>
          <a:xfrm>
            <a:off x="502920" y="43159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Asia's rise is structural. The global balance of AI research power is shifting eastward — driven by national investments in China, South Korea, and Singapore. Traditional Western hubs (UK, Germany) maintain stable but compressed shares.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&amp; Scientific Community — Productivity</a:t>
            </a:r>
            <a:endParaRPr lang="en-US" sz="2200" dirty="0"/>
          </a:p>
        </p:txBody>
      </p:sp>
      <p:pic>
        <p:nvPicPr>
          <p:cNvPr id="4" name="Image 0" descr="/home/claude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512064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0" y="804672"/>
            <a:ext cx="3154680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6" name="Text 3"/>
          <p:cNvSpPr/>
          <p:nvPr/>
        </p:nvSpPr>
        <p:spPr>
          <a:xfrm>
            <a:off x="5760720" y="85039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138,398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760720" y="123444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authors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669280" y="1828800"/>
            <a:ext cx="3154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5760720" y="18745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Lotka's Law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760720" y="225856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heavy-tailed distribution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669280" y="2852928"/>
            <a:ext cx="3154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2" name="Text 9"/>
          <p:cNvSpPr/>
          <p:nvPr/>
        </p:nvSpPr>
        <p:spPr>
          <a:xfrm>
            <a:off x="5760720" y="289864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author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760720" y="328269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286 publications (Dacheng Tao)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74320" y="3858768"/>
            <a:ext cx="8595360" cy="1344168"/>
          </a:xfrm>
          <a:prstGeom prst="rect">
            <a:avLst/>
          </a:prstGeom>
          <a:solidFill>
            <a:srgbClr val="E0F7F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Shape 12"/>
          <p:cNvSpPr/>
          <p:nvPr/>
        </p:nvSpPr>
        <p:spPr>
          <a:xfrm>
            <a:off x="274320" y="3858768"/>
            <a:ext cx="82296" cy="1417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3"/>
          <p:cNvSpPr/>
          <p:nvPr/>
        </p:nvSpPr>
        <p:spPr>
          <a:xfrm>
            <a:off x="502920" y="3968496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vast majority of researchers contribute only 1–2 publications. A tiny fraction of 'super-productive' researchers drives disproportionate output. This power-law distribution (Lotka's Law) is a universal pattern in scientific fields.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Sizes &amp; International Collaboration</a:t>
            </a:r>
            <a:endParaRPr lang="en-US" sz="2200" dirty="0"/>
          </a:p>
        </p:txBody>
      </p:sp>
      <p:pic>
        <p:nvPicPr>
          <p:cNvPr id="4" name="Image 0" descr="/home/claude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5166360" cy="2926080"/>
          </a:xfrm>
          <a:prstGeom prst="rect">
            <a:avLst/>
          </a:prstGeom>
        </p:spPr>
      </p:pic>
      <p:pic>
        <p:nvPicPr>
          <p:cNvPr id="5" name="Image 1" descr="/home/claude/imag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749040"/>
            <a:ext cx="8595360" cy="132389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596128" y="777240"/>
            <a:ext cx="32461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7" name="Shape 3"/>
          <p:cNvSpPr/>
          <p:nvPr/>
        </p:nvSpPr>
        <p:spPr>
          <a:xfrm>
            <a:off x="5596128" y="777240"/>
            <a:ext cx="64008" cy="29260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4"/>
          <p:cNvSpPr/>
          <p:nvPr/>
        </p:nvSpPr>
        <p:spPr>
          <a:xfrm>
            <a:off x="5760720" y="8503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715000" y="123444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authors per paper: ~2.4 (2000) → 5.5+ (2025)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715000" y="1819656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transitioning to large-scale team science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715000" y="2404872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collab share peaked ~24% in 2015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715000" y="299008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to ~16.5% by 2025 — domestic output accelerating faster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— Leaders &amp; Temporal Dynamics</a:t>
            </a:r>
            <a:endParaRPr lang="en-US" sz="2200" dirty="0"/>
          </a:p>
        </p:txBody>
      </p:sp>
      <p:pic>
        <p:nvPicPr>
          <p:cNvPr id="4" name="Image 0" descr="/home/claude/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3474720" cy="2286000"/>
          </a:xfrm>
          <a:prstGeom prst="rect">
            <a:avLst/>
          </a:prstGeom>
        </p:spPr>
      </p:pic>
      <p:pic>
        <p:nvPicPr>
          <p:cNvPr id="5" name="Image 1" descr="/home/claude/image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777240"/>
            <a:ext cx="4937760" cy="2286000"/>
          </a:xfrm>
          <a:prstGeom prst="rect">
            <a:avLst/>
          </a:prstGeom>
        </p:spPr>
      </p:pic>
      <p:pic>
        <p:nvPicPr>
          <p:cNvPr id="6" name="Image 2" descr="/home/claude/image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127248"/>
            <a:ext cx="5394960" cy="18288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897880" y="3127248"/>
            <a:ext cx="29443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8" name="Shape 3"/>
          <p:cNvSpPr/>
          <p:nvPr/>
        </p:nvSpPr>
        <p:spPr>
          <a:xfrm>
            <a:off x="5897880" y="3127248"/>
            <a:ext cx="64008" cy="18288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4"/>
          <p:cNvSpPr/>
          <p:nvPr/>
        </p:nvSpPr>
        <p:spPr>
          <a:xfrm>
            <a:off x="6053328" y="32004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6053328" y="363931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CMU leads historically (950 pubs)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6053328" y="4192524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NTU exploded post-2010 — now #1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6053328" y="4466347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corporate lab (Microsoft Research) in top 10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6053328" y="3942058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dominates volume over industry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Specialization</a:t>
            </a:r>
            <a:endParaRPr lang="en-US" sz="2200" dirty="0"/>
          </a:p>
        </p:txBody>
      </p:sp>
      <p:pic>
        <p:nvPicPr>
          <p:cNvPr id="4" name="Image 0" descr="/home/claude/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49808"/>
            <a:ext cx="859536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206240"/>
            <a:ext cx="8595360" cy="804672"/>
          </a:xfrm>
          <a:prstGeom prst="rect">
            <a:avLst/>
          </a:prstGeom>
          <a:solidFill>
            <a:srgbClr val="E0F7F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Shape 3"/>
          <p:cNvSpPr/>
          <p:nvPr/>
        </p:nvSpPr>
        <p:spPr>
          <a:xfrm>
            <a:off x="274320" y="4206240"/>
            <a:ext cx="82296" cy="8046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Text 4"/>
          <p:cNvSpPr/>
          <p:nvPr/>
        </p:nvSpPr>
        <p:spPr>
          <a:xfrm>
            <a:off x="502920" y="43159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 Zurich and UC Berkeley are highly specialized — directing most output toward Computer Vision (CVPR) and Neural Information Processing (NeurIPS). CMU and NTU maintain broader, more balanced portfolios covering General AI (AAAI, IJCAI) alongside specialized topics.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Quality &amp; Impact — Venues and Citations</a:t>
            </a:r>
            <a:endParaRPr lang="en-US" sz="2200" dirty="0"/>
          </a:p>
        </p:txBody>
      </p:sp>
      <p:pic>
        <p:nvPicPr>
          <p:cNvPr id="4" name="Image 0" descr="/home/claude/image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3474720" cy="2286000"/>
          </a:xfrm>
          <a:prstGeom prst="rect">
            <a:avLst/>
          </a:prstGeom>
        </p:spPr>
      </p:pic>
      <p:pic>
        <p:nvPicPr>
          <p:cNvPr id="5" name="Image 1" descr="/home/claude/image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777240"/>
            <a:ext cx="5029200" cy="19202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" y="3200400"/>
            <a:ext cx="8595360" cy="1682496"/>
          </a:xfrm>
          <a:prstGeom prst="rect">
            <a:avLst/>
          </a:prstGeom>
          <a:solidFill>
            <a:srgbClr val="E0F7F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3"/>
          <p:cNvSpPr/>
          <p:nvPr/>
        </p:nvSpPr>
        <p:spPr>
          <a:xfrm>
            <a:off x="274320" y="3200400"/>
            <a:ext cx="82296" cy="168249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4"/>
          <p:cNvSpPr/>
          <p:nvPr/>
        </p:nvSpPr>
        <p:spPr>
          <a:xfrm>
            <a:off x="502920" y="3310128"/>
            <a:ext cx="822960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Access leads journals with 2× volume advantage over next competitor. IJCNN dominates conferences similarly. Top-10 journals account for 23.8% of citations; single top venue contributes 28.2% of that share. Computer Vision has highest citations-per-paper (23.4%), followed by Image &amp; Media Synthesis (22.4%) and Classical NLP (21.8%). AI Ethics &amp; Interpretability ranks lowest at 16.1%.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Science — Emergence &amp; Applied vs Fundamental</a:t>
            </a:r>
            <a:endParaRPr lang="en-US" sz="2200" dirty="0"/>
          </a:p>
        </p:txBody>
      </p:sp>
      <p:pic>
        <p:nvPicPr>
          <p:cNvPr id="4" name="Image 0" descr="/home/claude/imag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3977640" cy="2011680"/>
          </a:xfrm>
          <a:prstGeom prst="rect">
            <a:avLst/>
          </a:prstGeom>
        </p:spPr>
      </p:pic>
      <p:pic>
        <p:nvPicPr>
          <p:cNvPr id="5" name="Image 1" descr="/home/claude/image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777240"/>
            <a:ext cx="4389120" cy="2011680"/>
          </a:xfrm>
          <a:prstGeom prst="rect">
            <a:avLst/>
          </a:prstGeom>
        </p:spPr>
      </p:pic>
      <p:pic>
        <p:nvPicPr>
          <p:cNvPr id="6" name="Image 2" descr="/home/claude/image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834640"/>
            <a:ext cx="859536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Limitations</a:t>
            </a:r>
            <a:endParaRPr lang="en-US" sz="2200" dirty="0"/>
          </a:p>
        </p:txBody>
      </p:sp>
      <p:pic>
        <p:nvPicPr>
          <p:cNvPr id="4" name="Image 0" descr="/home/claude/image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3840480" cy="2697480"/>
          </a:xfrm>
          <a:prstGeom prst="rect">
            <a:avLst/>
          </a:prstGeom>
        </p:spPr>
      </p:pic>
      <p:pic>
        <p:nvPicPr>
          <p:cNvPr id="5" name="Image 1" descr="/home/claude/image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777240"/>
            <a:ext cx="4572000" cy="18288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297680" y="2724912"/>
            <a:ext cx="4572000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7" name="Shape 3"/>
          <p:cNvSpPr/>
          <p:nvPr/>
        </p:nvSpPr>
        <p:spPr>
          <a:xfrm>
            <a:off x="4297680" y="2724912"/>
            <a:ext cx="64008" cy="22128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4"/>
          <p:cNvSpPr/>
          <p:nvPr/>
        </p:nvSpPr>
        <p:spPr>
          <a:xfrm>
            <a:off x="4480560" y="279806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462272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tracking: majority of papers have NO citation records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4462272" y="3520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Affiliation coverage incomplete — country inferred via regex fallback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462272" y="38999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LLM/Transformer query also captures electrical-engineering papers (birth year skewed)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462272" y="42291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labeling (Academic vs Industry) is heuristic, not authoritative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462272" y="45308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10 split into 3 slices due to endpoint timeouts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across all 8 dimensions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8412480" cy="576072"/>
          </a:xfrm>
          <a:prstGeom prst="rect">
            <a:avLst/>
          </a:prstGeom>
          <a:solidFill>
            <a:srgbClr val="0D1E30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13385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at scale: 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34640" y="1133856"/>
            <a:ext cx="5760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163K+ papers, multi-source, growing at ~16K/year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737360"/>
            <a:ext cx="8412480" cy="576072"/>
          </a:xfrm>
          <a:prstGeom prst="rect">
            <a:avLst/>
          </a:prstGeom>
          <a:solidFill>
            <a:srgbClr val="0D1E30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502920" y="1773936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77393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is the new frontier: 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34640" y="1773936"/>
            <a:ext cx="5760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GenAI overtook all fields in 2025; ML peaked at 7,106 in 2024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377440"/>
            <a:ext cx="8412480" cy="576072"/>
          </a:xfrm>
          <a:prstGeom prst="rect">
            <a:avLst/>
          </a:prstGeom>
          <a:solidFill>
            <a:srgbClr val="0D1E30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502920" y="2414016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41401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overtook the US: 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834640" y="2414016"/>
            <a:ext cx="5760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Post-2023 China leads annual output; South Korea CAGR 40.96% (2018–2023)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017520"/>
            <a:ext cx="8412480" cy="576072"/>
          </a:xfrm>
          <a:prstGeom prst="rect">
            <a:avLst/>
          </a:prstGeom>
          <a:solidFill>
            <a:srgbClr val="0D1E30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502920" y="3054096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05409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team science: 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834640" y="3054096"/>
            <a:ext cx="5760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per paper: ~2.4 (2000) → 5.5+ (2025); intl share declining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657600"/>
            <a:ext cx="8412480" cy="576072"/>
          </a:xfrm>
          <a:prstGeom prst="rect">
            <a:avLst/>
          </a:prstGeom>
          <a:solidFill>
            <a:srgbClr val="0D1E30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Text 20"/>
          <p:cNvSpPr/>
          <p:nvPr/>
        </p:nvSpPr>
        <p:spPr>
          <a:xfrm>
            <a:off x="502920" y="3694176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69417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dominates: 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834640" y="3694176"/>
            <a:ext cx="5760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CMU, NTU lead; only 1 corporate lab in top 10; Lotka's Law holds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4297680"/>
            <a:ext cx="8412480" cy="576072"/>
          </a:xfrm>
          <a:prstGeom prst="rect">
            <a:avLst/>
          </a:prstGeom>
          <a:solidFill>
            <a:srgbClr val="0D1E30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Text 24"/>
          <p:cNvSpPr/>
          <p:nvPr/>
        </p:nvSpPr>
        <p:spPr>
          <a:xfrm>
            <a:off x="502920" y="4334256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433425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ecosystem: 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834640" y="4334256"/>
            <a:ext cx="5760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topics strongly correlated (r ≥ 0.67)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457200"/>
            <a:ext cx="4572000" cy="457200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926080" y="2926080"/>
            <a:ext cx="3291840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2926080" y="2926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 Q&amp;A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</a:t>
            </a: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/stacyshki/Big-Data-and-AI-Publications-Analysis  |  </a:t>
            </a:r>
            <a:r>
              <a:rPr lang="en-US" sz="8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emlyon</a:t>
            </a: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8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ecole</a:t>
            </a: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centrale2025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1054</Words>
  <Application>Microsoft Macintosh PowerPoint</Application>
  <PresentationFormat>Экран (16:9)</PresentationFormat>
  <Paragraphs>185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Bibliometric Analysis of AI Research</dc:title>
  <dc:subject>PptxGenJS Presentation</dc:subject>
  <dc:creator>PptxGenJS</dc:creator>
  <cp:lastModifiedBy>KAMALOV Arystan</cp:lastModifiedBy>
  <cp:revision>3</cp:revision>
  <dcterms:created xsi:type="dcterms:W3CDTF">2026-03-15T20:59:06Z</dcterms:created>
  <dcterms:modified xsi:type="dcterms:W3CDTF">2026-03-15T21:20:16Z</dcterms:modified>
</cp:coreProperties>
</file>